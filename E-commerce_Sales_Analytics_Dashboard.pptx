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74431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3840480" cy="3840480"/>
          </a:xfrm>
          <a:prstGeom prst="ellipse">
            <a:avLst/>
          </a:prstGeom>
          <a:solidFill>
            <a:srgbClr val="DCE9FA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3291840"/>
            <a:ext cx="3108960" cy="3108960"/>
          </a:xfrm>
          <a:prstGeom prst="ellipse">
            <a:avLst/>
          </a:prstGeom>
          <a:solidFill>
            <a:srgbClr val="DCE9FA"/>
          </a:solidFill>
          <a:ln/>
        </p:spPr>
      </p:sp>
      <p:sp>
        <p:nvSpPr>
          <p:cNvPr id="4" name="Text 2"/>
          <p:cNvSpPr/>
          <p:nvPr/>
        </p:nvSpPr>
        <p:spPr>
          <a:xfrm>
            <a:off x="275040" y="1147573"/>
            <a:ext cx="8776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E-COMMERCE SALES ANALYTICS DASHBOARD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400320" y="2112804"/>
            <a:ext cx="7863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30000"/>
              </a:lnSpc>
              <a:buNone/>
            </a:pPr>
            <a:r>
              <a:rPr lang="en-US" sz="150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Apex Planet Data Analytics Internship</a:t>
            </a:r>
            <a:endParaRPr lang="en-US" sz="1500" dirty="0"/>
          </a:p>
          <a:p>
            <a:pPr>
              <a:lnSpc>
                <a:spcPct val="130000"/>
              </a:lnSpc>
            </a:pPr>
            <a:r>
              <a:rPr lang="en-US" sz="150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Task 5: Final Reporting, </a:t>
            </a:r>
            <a:r>
              <a:rPr lang="en-US" sz="1500" dirty="0" err="1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Depolyment</a:t>
            </a:r>
            <a:r>
              <a:rPr lang="en-US" sz="1500" dirty="0">
                <a:solidFill>
                  <a:srgbClr val="3B5B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&amp; Presentation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3566160"/>
            <a:ext cx="12801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3693637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Hariom Kumar Dubey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52120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20000"/>
              </a:lnSpc>
              <a:buNone/>
            </a:pPr>
            <a:r>
              <a:rPr lang="en-US" sz="14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analyzes two year of retail sales transactions to uncover revenue trends, customer behavior, and product performance, culminating in an interactive Power BI dashboard.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548640" y="2514600"/>
            <a:ext cx="109728" cy="10972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3591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prepare raw transactional sales data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971800"/>
            <a:ext cx="109728" cy="10972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28163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trends across time, geography, and demographics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429000"/>
            <a:ext cx="109728" cy="10972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32735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an interactive dashboard for business monitoring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3886200"/>
            <a:ext cx="109728" cy="109728"/>
          </a:xfrm>
          <a:prstGeom prst="ellipse">
            <a:avLst/>
          </a:prstGeom>
          <a:solidFill>
            <a:srgbClr val="3B5BDB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73075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findings using statistical hypothesis testing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1143000"/>
            <a:ext cx="2651760" cy="3429000"/>
          </a:xfrm>
          <a:prstGeom prst="roundRect">
            <a:avLst>
              <a:gd name="adj" fmla="val 2759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37160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1.6M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6126480" y="187452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92240" y="2286000"/>
            <a:ext cx="1920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26480" y="242316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22k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6126480" y="286207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492240" y="3246120"/>
            <a:ext cx="1920240" cy="0"/>
          </a:xfrm>
          <a:prstGeom prst="line">
            <a:avLst/>
          </a:prstGeom>
          <a:noFill/>
          <a:ln w="12700">
            <a:solidFill>
              <a:srgbClr val="CADC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3383280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</a:rPr>
              <a:t>175k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6126480" y="382219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Profit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Tools &amp; Technologies Used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combination of programming, data, and visualization tools supported every stage of the analysis.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74420" y="210312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6444" y="2295144"/>
            <a:ext cx="438912" cy="43891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640080" y="3520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&amp; EDA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2679192" y="17830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04972" y="210312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6996" y="2295144"/>
            <a:ext cx="438912" cy="43891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679192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SQL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2770632" y="3520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Querying &amp; aggregation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4809744" y="17830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335524" y="210312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27548" y="2295144"/>
            <a:ext cx="438912" cy="43891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09744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Excel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901184" y="3520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prep &amp; validation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940296" y="1783080"/>
            <a:ext cx="1874520" cy="2651760"/>
          </a:xfrm>
          <a:prstGeom prst="roundRect">
            <a:avLst>
              <a:gd name="adj" fmla="val 3902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466076" y="2103120"/>
            <a:ext cx="822960" cy="82296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58100" y="2295144"/>
            <a:ext cx="438912" cy="43891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40296" y="310896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7031736" y="3520440"/>
            <a:ext cx="1691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raw dataset (“</a:t>
            </a:r>
            <a:r>
              <a:rPr lang="en-US" sz="1300" dirty="0" err="1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SuperStore_Sales_Dataset</a:t>
            </a: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”) contains</a:t>
            </a:r>
            <a:r>
              <a:rPr lang="en-IN" sz="1200" dirty="0"/>
              <a:t> 5902 </a:t>
            </a: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details, customer demographics, product, and sales value.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54272" y="1481328"/>
            <a:ext cx="6435457" cy="3392424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31125" y="1531620"/>
            <a:ext cx="6281751" cy="32461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Workflow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records were cleaned and enriched in Excel/Python — handling duplicates, formatting dates, and deriving segmentation fields for analysis.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1351095" y="1481328"/>
            <a:ext cx="6441809" cy="3392424"/>
          </a:xfrm>
          <a:prstGeom prst="roundRect">
            <a:avLst>
              <a:gd name="adj" fmla="val 1348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424247" y="1556020"/>
            <a:ext cx="6295505" cy="32430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 BI Dashboard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64234" y="987552"/>
            <a:ext cx="844764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interactive dashboard consolidating KPIs, trends, and breakdowns by region, category, segment, ship mode and payment mode.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1489577" y="1344168"/>
            <a:ext cx="6164845" cy="3529584"/>
          </a:xfrm>
          <a:prstGeom prst="roundRect">
            <a:avLst>
              <a:gd name="adj" fmla="val 1295"/>
            </a:avLst>
          </a:prstGeom>
          <a:solidFill>
            <a:srgbClr val="FFFFFF"/>
          </a:solidFill>
          <a:ln w="15875">
            <a:solidFill>
              <a:srgbClr val="1E2761"/>
            </a:solidFill>
            <a:prstDash val="solid"/>
          </a:ln>
          <a:effectLst>
            <a:outerShdw blurRad="127000" dist="25400" dir="5400000" algn="bl" rotWithShape="0">
              <a:srgbClr val="000000">
                <a:alpha val="12000"/>
              </a:srgbClr>
            </a:outerShdw>
          </a:effectLst>
        </p:spPr>
      </p:sp>
      <p:pic>
        <p:nvPicPr>
          <p:cNvPr id="5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554286" y="1399032"/>
            <a:ext cx="6043666" cy="337870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Charts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80160"/>
            <a:ext cx="2697480" cy="3108960"/>
          </a:xfrm>
          <a:prstGeom prst="roundRect">
            <a:avLst>
              <a:gd name="adj" fmla="val 2034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4" name="Image 0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1508761"/>
            <a:ext cx="2423160" cy="147213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4008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Sales Trend</a:t>
            </a:r>
            <a:endParaRPr lang="en-US" sz="1250" dirty="0"/>
          </a:p>
        </p:txBody>
      </p:sp>
      <p:sp>
        <p:nvSpPr>
          <p:cNvPr id="6" name="Shape 3"/>
          <p:cNvSpPr/>
          <p:nvPr/>
        </p:nvSpPr>
        <p:spPr>
          <a:xfrm>
            <a:off x="3474720" y="1280160"/>
            <a:ext cx="2697480" cy="3108960"/>
          </a:xfrm>
          <a:prstGeom prst="roundRect">
            <a:avLst>
              <a:gd name="adj" fmla="val 2034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7" name="Image 1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566160" y="1508760"/>
            <a:ext cx="2514600" cy="14721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56616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Profit by States</a:t>
            </a:r>
            <a:endParaRPr lang="en-US" sz="1250" dirty="0"/>
          </a:p>
        </p:txBody>
      </p:sp>
      <p:sp>
        <p:nvSpPr>
          <p:cNvPr id="9" name="Shape 5"/>
          <p:cNvSpPr/>
          <p:nvPr/>
        </p:nvSpPr>
        <p:spPr>
          <a:xfrm>
            <a:off x="6400800" y="1280160"/>
            <a:ext cx="2697480" cy="3108960"/>
          </a:xfrm>
          <a:prstGeom prst="roundRect">
            <a:avLst>
              <a:gd name="adj" fmla="val 2034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</p:sp>
      <p:pic>
        <p:nvPicPr>
          <p:cNvPr id="10" name="Image 2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492240" y="1508761"/>
            <a:ext cx="2514600" cy="147213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492240" y="3886200"/>
            <a:ext cx="2514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Payment by Mode</a:t>
            </a:r>
            <a:endParaRPr lang="en-US" sz="1250" dirty="0"/>
          </a:p>
        </p:txBody>
      </p:sp>
      <p:sp>
        <p:nvSpPr>
          <p:cNvPr id="12" name="Text 7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216152"/>
            <a:ext cx="292608" cy="29260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430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sales reached ₹1.6M across 22k orders.</a:t>
            </a:r>
            <a:endParaRPr lang="en-US" sz="135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837944"/>
            <a:ext cx="292608" cy="292608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764792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Technology was the highest-profit category</a:t>
            </a: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459736"/>
            <a:ext cx="292608" cy="292608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386584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Consumer segment generated the greatest profit.</a:t>
            </a:r>
            <a:endParaRPr lang="en-US" sz="1350" dirty="0"/>
          </a:p>
        </p:txBody>
      </p:sp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081528"/>
            <a:ext cx="292608" cy="292608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3008376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Accessories and Phones were the most profitable sub-categories.</a:t>
            </a:r>
            <a:endParaRPr lang="en-US" sz="1350" dirty="0"/>
          </a:p>
        </p:txBody>
      </p:sp>
      <p:pic>
        <p:nvPicPr>
          <p:cNvPr id="11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03320"/>
            <a:ext cx="292608" cy="292608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630168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California produced the highest state profit.</a:t>
            </a:r>
            <a:endParaRPr lang="en-US" sz="1350" dirty="0"/>
          </a:p>
        </p:txBody>
      </p:sp>
      <p:pic>
        <p:nvPicPr>
          <p:cNvPr id="13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325112"/>
            <a:ext cx="292608" cy="292608"/>
          </a:xfrm>
          <a:prstGeom prst="rect">
            <a:avLst/>
          </a:prstGeom>
        </p:spPr>
      </p:pic>
      <p:sp>
        <p:nvSpPr>
          <p:cNvPr id="14" name="Text 6"/>
          <p:cNvSpPr/>
          <p:nvPr/>
        </p:nvSpPr>
        <p:spPr>
          <a:xfrm>
            <a:off x="1005840" y="42519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1400" dirty="0"/>
              <a:t>Standard Class dominated shipping</a:t>
            </a:r>
            <a:r>
              <a:rPr lang="en-US" sz="13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350" dirty="0"/>
          </a:p>
        </p:txBody>
      </p:sp>
      <p:sp>
        <p:nvSpPr>
          <p:cNvPr id="15" name="Text 7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IN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</a:t>
            </a: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Analytics Dashboard  |  Apex Planet Internship - Task 5</a:t>
            </a:r>
            <a:endParaRPr lang="en-US" sz="900" dirty="0"/>
          </a:p>
        </p:txBody>
      </p:sp>
      <p:sp>
        <p:nvSpPr>
          <p:cNvPr id="16" name="Text 8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Statistical Validation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Independent Sample T-Test was used to check whether average spending differs significantly between male and female customers.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H₀  (Null Hypothesis)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difference in average spending between male and female customers.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663440" y="1691640"/>
            <a:ext cx="3931920" cy="1051560"/>
          </a:xfrm>
          <a:prstGeom prst="roundRect">
            <a:avLst>
              <a:gd name="adj" fmla="val 5217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846320" y="17830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H₁  (Alternative Hypothesis)</a:t>
            </a:r>
            <a:endParaRPr lang="en-US" sz="1250" dirty="0"/>
          </a:p>
          <a:p>
            <a:pPr marL="0" indent="0">
              <a:buNone/>
            </a:pPr>
            <a:r>
              <a:rPr lang="en-US" sz="115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is a significant difference in average spending between male and female customers.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08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Hypotheses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(H₀ vs H₁)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2889504" y="3387852"/>
            <a:ext cx="393192" cy="219456"/>
          </a:xfrm>
          <a:prstGeom prst="rightArrow">
            <a:avLst/>
          </a:prstGeom>
          <a:solidFill>
            <a:srgbClr val="3B5BDB"/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3108960"/>
            <a:ext cx="246888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2" name="Text 10"/>
          <p:cNvSpPr/>
          <p:nvPr/>
        </p:nvSpPr>
        <p:spPr>
          <a:xfrm>
            <a:off x="3337560" y="31089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 T-Test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861304" y="3387852"/>
            <a:ext cx="393192" cy="219456"/>
          </a:xfrm>
          <a:prstGeom prst="rightArrow">
            <a:avLst/>
          </a:prstGeom>
          <a:solidFill>
            <a:srgbClr val="3B5BDB"/>
          </a:solidFill>
          <a:ln/>
        </p:spPr>
      </p:sp>
      <p:sp>
        <p:nvSpPr>
          <p:cNvPr id="14" name="Shape 12"/>
          <p:cNvSpPr/>
          <p:nvPr/>
        </p:nvSpPr>
        <p:spPr>
          <a:xfrm>
            <a:off x="6309360" y="3108960"/>
            <a:ext cx="2286000" cy="777240"/>
          </a:xfrm>
          <a:prstGeom prst="roundRect">
            <a:avLst>
              <a:gd name="adj" fmla="val 9412"/>
            </a:avLst>
          </a:prstGeom>
          <a:solidFill>
            <a:srgbClr val="1E2761"/>
          </a:solidFill>
          <a:ln/>
        </p:spPr>
      </p:sp>
      <p:sp>
        <p:nvSpPr>
          <p:cNvPr id="15" name="Text 13"/>
          <p:cNvSpPr/>
          <p:nvPr/>
        </p:nvSpPr>
        <p:spPr>
          <a:xfrm>
            <a:off x="6309360" y="31089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(Accept / Reject H₀)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16052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p-value below 0.05 leads to rejecting H₀, indicating a statistically significant difference in spending between genders.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502920" cy="502920"/>
          </a:xfrm>
          <a:prstGeom prst="ellipse">
            <a:avLst/>
          </a:prstGeom>
          <a:solidFill>
            <a:srgbClr val="DCE9FA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1344168"/>
            <a:ext cx="283464" cy="28346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234440" y="1207008"/>
            <a:ext cx="7223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demonstrates how data analytics can transform raw sales data into meaningful business insights.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548640" y="1965960"/>
            <a:ext cx="502920" cy="502920"/>
          </a:xfrm>
          <a:prstGeom prst="ellipse">
            <a:avLst/>
          </a:prstGeom>
          <a:solidFill>
            <a:srgbClr val="DCE9FA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075688"/>
            <a:ext cx="283464" cy="28346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234440" y="192024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combining Python, SQL, Excel, and Power BI, it was possible to identify sales trends, customer behavior, product performance, and regional opportunities.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548640" y="2788920"/>
            <a:ext cx="502920" cy="502920"/>
          </a:xfrm>
          <a:prstGeom prst="ellipse">
            <a:avLst/>
          </a:prstGeom>
          <a:solidFill>
            <a:srgbClr val="DCE9FA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" y="2898648"/>
            <a:ext cx="283464" cy="283464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234440" y="2743200"/>
            <a:ext cx="7223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B2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interactive dashboard provides an effective way to monitor business performance, while statistical validation strengthens confidence in the findings.</a:t>
            </a:r>
            <a:endParaRPr lang="en-US" sz="1400" dirty="0"/>
          </a:p>
        </p:txBody>
      </p:sp>
      <p:sp>
        <p:nvSpPr>
          <p:cNvPr id="12" name="Shape 7"/>
          <p:cNvSpPr/>
          <p:nvPr/>
        </p:nvSpPr>
        <p:spPr>
          <a:xfrm>
            <a:off x="548640" y="3657600"/>
            <a:ext cx="8046720" cy="868680"/>
          </a:xfrm>
          <a:prstGeom prst="roundRect">
            <a:avLst>
              <a:gd name="adj" fmla="val 6316"/>
            </a:avLst>
          </a:prstGeom>
          <a:solidFill>
            <a:srgbClr val="1E2761"/>
          </a:solidFill>
          <a:ln/>
        </p:spPr>
      </p:sp>
      <p:sp>
        <p:nvSpPr>
          <p:cNvPr id="13" name="Text 8"/>
          <p:cNvSpPr/>
          <p:nvPr/>
        </p:nvSpPr>
        <p:spPr>
          <a:xfrm>
            <a:off x="822960" y="3657600"/>
            <a:ext cx="7498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Overall, this project highlights the importance of data-driven decision-making in improving business growth and operational efficiency.</a:t>
            </a:r>
            <a:endParaRPr lang="en-US" sz="1350" dirty="0"/>
          </a:p>
        </p:txBody>
      </p:sp>
      <p:sp>
        <p:nvSpPr>
          <p:cNvPr id="14" name="Text 9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15" name="Text 10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Developed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058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Throughout this internship project, the following skills were strengthened: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55448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7373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796796"/>
            <a:ext cx="164592" cy="1645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55448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3337560" y="155448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3474720" y="17373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1796796"/>
            <a:ext cx="164592" cy="1645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867912" y="155448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 (EDA)</a:t>
            </a:r>
            <a:endParaRPr lang="en-US" sz="1150" dirty="0"/>
          </a:p>
        </p:txBody>
      </p:sp>
      <p:sp>
        <p:nvSpPr>
          <p:cNvPr id="12" name="Shape 8"/>
          <p:cNvSpPr/>
          <p:nvPr/>
        </p:nvSpPr>
        <p:spPr>
          <a:xfrm>
            <a:off x="6126480" y="155448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3" name="Shape 9"/>
          <p:cNvSpPr/>
          <p:nvPr/>
        </p:nvSpPr>
        <p:spPr>
          <a:xfrm>
            <a:off x="6263640" y="173736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1796796"/>
            <a:ext cx="164592" cy="1645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56832" y="155448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Visualization</a:t>
            </a:r>
            <a:endParaRPr lang="en-US" sz="1150" dirty="0"/>
          </a:p>
        </p:txBody>
      </p:sp>
      <p:sp>
        <p:nvSpPr>
          <p:cNvPr id="16" name="Shape 11"/>
          <p:cNvSpPr/>
          <p:nvPr/>
        </p:nvSpPr>
        <p:spPr>
          <a:xfrm>
            <a:off x="548640" y="237744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685800" y="25603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2619756"/>
            <a:ext cx="164592" cy="1645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078992" y="237744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Development</a:t>
            </a:r>
            <a:endParaRPr lang="en-US" sz="1150" dirty="0"/>
          </a:p>
        </p:txBody>
      </p:sp>
      <p:sp>
        <p:nvSpPr>
          <p:cNvPr id="20" name="Shape 14"/>
          <p:cNvSpPr/>
          <p:nvPr/>
        </p:nvSpPr>
        <p:spPr>
          <a:xfrm>
            <a:off x="3337560" y="237744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3474720" y="25603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2619756"/>
            <a:ext cx="164592" cy="1645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867912" y="237744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Intelligence</a:t>
            </a:r>
            <a:endParaRPr lang="en-US" sz="1150" dirty="0"/>
          </a:p>
        </p:txBody>
      </p:sp>
      <p:sp>
        <p:nvSpPr>
          <p:cNvPr id="24" name="Shape 17"/>
          <p:cNvSpPr/>
          <p:nvPr/>
        </p:nvSpPr>
        <p:spPr>
          <a:xfrm>
            <a:off x="6126480" y="237744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5" name="Shape 18"/>
          <p:cNvSpPr/>
          <p:nvPr/>
        </p:nvSpPr>
        <p:spPr>
          <a:xfrm>
            <a:off x="6263640" y="256032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619756"/>
            <a:ext cx="164592" cy="16459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56832" y="237744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Statistical Analysis</a:t>
            </a:r>
            <a:endParaRPr lang="en-US" sz="1150" dirty="0"/>
          </a:p>
        </p:txBody>
      </p:sp>
      <p:sp>
        <p:nvSpPr>
          <p:cNvPr id="28" name="Shape 20"/>
          <p:cNvSpPr/>
          <p:nvPr/>
        </p:nvSpPr>
        <p:spPr>
          <a:xfrm>
            <a:off x="548640" y="320040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29" name="Shape 21"/>
          <p:cNvSpPr/>
          <p:nvPr/>
        </p:nvSpPr>
        <p:spPr>
          <a:xfrm>
            <a:off x="685800" y="33832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0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3442716"/>
            <a:ext cx="164592" cy="164592"/>
          </a:xfrm>
          <a:prstGeom prst="rect">
            <a:avLst/>
          </a:prstGeom>
        </p:spPr>
      </p:pic>
      <p:sp>
        <p:nvSpPr>
          <p:cNvPr id="31" name="Text 22"/>
          <p:cNvSpPr/>
          <p:nvPr/>
        </p:nvSpPr>
        <p:spPr>
          <a:xfrm>
            <a:off x="1078992" y="32004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</a:t>
            </a:r>
            <a:endParaRPr lang="en-US" sz="1150" dirty="0"/>
          </a:p>
        </p:txBody>
      </p:sp>
      <p:sp>
        <p:nvSpPr>
          <p:cNvPr id="32" name="Shape 23"/>
          <p:cNvSpPr/>
          <p:nvPr/>
        </p:nvSpPr>
        <p:spPr>
          <a:xfrm>
            <a:off x="3337560" y="320040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3" name="Shape 24"/>
          <p:cNvSpPr/>
          <p:nvPr/>
        </p:nvSpPr>
        <p:spPr>
          <a:xfrm>
            <a:off x="3474720" y="33832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4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3442716"/>
            <a:ext cx="164592" cy="164592"/>
          </a:xfrm>
          <a:prstGeom prst="rect">
            <a:avLst/>
          </a:prstGeom>
        </p:spPr>
      </p:pic>
      <p:sp>
        <p:nvSpPr>
          <p:cNvPr id="35" name="Text 25"/>
          <p:cNvSpPr/>
          <p:nvPr/>
        </p:nvSpPr>
        <p:spPr>
          <a:xfrm>
            <a:off x="3867912" y="32004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Programming</a:t>
            </a:r>
            <a:endParaRPr lang="en-US" sz="1150" dirty="0"/>
          </a:p>
        </p:txBody>
      </p:sp>
      <p:sp>
        <p:nvSpPr>
          <p:cNvPr id="36" name="Shape 26"/>
          <p:cNvSpPr/>
          <p:nvPr/>
        </p:nvSpPr>
        <p:spPr>
          <a:xfrm>
            <a:off x="6126480" y="320040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37" name="Shape 27"/>
          <p:cNvSpPr/>
          <p:nvPr/>
        </p:nvSpPr>
        <p:spPr>
          <a:xfrm>
            <a:off x="6263640" y="338328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3442716"/>
            <a:ext cx="164592" cy="164592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6656832" y="320040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 Queries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548640" y="402336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1" name="Shape 30"/>
          <p:cNvSpPr/>
          <p:nvPr/>
        </p:nvSpPr>
        <p:spPr>
          <a:xfrm>
            <a:off x="685800" y="42062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2" name="Image 9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4265676"/>
            <a:ext cx="164592" cy="164592"/>
          </a:xfrm>
          <a:prstGeom prst="rect">
            <a:avLst/>
          </a:prstGeom>
        </p:spPr>
      </p:pic>
      <p:sp>
        <p:nvSpPr>
          <p:cNvPr id="43" name="Text 31"/>
          <p:cNvSpPr/>
          <p:nvPr/>
        </p:nvSpPr>
        <p:spPr>
          <a:xfrm>
            <a:off x="1078992" y="402336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Solving</a:t>
            </a:r>
            <a:endParaRPr lang="en-US" sz="1150" dirty="0"/>
          </a:p>
        </p:txBody>
      </p:sp>
      <p:sp>
        <p:nvSpPr>
          <p:cNvPr id="44" name="Shape 32"/>
          <p:cNvSpPr/>
          <p:nvPr/>
        </p:nvSpPr>
        <p:spPr>
          <a:xfrm>
            <a:off x="3337560" y="402336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5" name="Shape 33"/>
          <p:cNvSpPr/>
          <p:nvPr/>
        </p:nvSpPr>
        <p:spPr>
          <a:xfrm>
            <a:off x="3474720" y="42062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38728" y="4265676"/>
            <a:ext cx="164592" cy="164592"/>
          </a:xfrm>
          <a:prstGeom prst="rect">
            <a:avLst/>
          </a:prstGeom>
        </p:spPr>
      </p:pic>
      <p:sp>
        <p:nvSpPr>
          <p:cNvPr id="47" name="Text 34"/>
          <p:cNvSpPr/>
          <p:nvPr/>
        </p:nvSpPr>
        <p:spPr>
          <a:xfrm>
            <a:off x="3867912" y="402336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Storytelling</a:t>
            </a:r>
            <a:endParaRPr lang="en-US" sz="1150" dirty="0"/>
          </a:p>
        </p:txBody>
      </p:sp>
      <p:sp>
        <p:nvSpPr>
          <p:cNvPr id="48" name="Shape 35"/>
          <p:cNvSpPr/>
          <p:nvPr/>
        </p:nvSpPr>
        <p:spPr>
          <a:xfrm>
            <a:off x="6126480" y="4023360"/>
            <a:ext cx="2606040" cy="658368"/>
          </a:xfrm>
          <a:prstGeom prst="roundRect">
            <a:avLst>
              <a:gd name="adj" fmla="val 8333"/>
            </a:avLst>
          </a:prstGeom>
          <a:solidFill>
            <a:srgbClr val="DCE9FA"/>
          </a:solidFill>
          <a:ln w="15875">
            <a:solidFill>
              <a:srgbClr val="1E2761"/>
            </a:solidFill>
            <a:prstDash val="solid"/>
          </a:ln>
        </p:spPr>
      </p:sp>
      <p:sp>
        <p:nvSpPr>
          <p:cNvPr id="49" name="Shape 36"/>
          <p:cNvSpPr/>
          <p:nvPr/>
        </p:nvSpPr>
        <p:spPr>
          <a:xfrm>
            <a:off x="6263640" y="4206240"/>
            <a:ext cx="292608" cy="29260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pic>
        <p:nvPicPr>
          <p:cNvPr id="50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4265676"/>
            <a:ext cx="164592" cy="164592"/>
          </a:xfrm>
          <a:prstGeom prst="rect">
            <a:avLst/>
          </a:prstGeom>
        </p:spPr>
      </p:pic>
      <p:sp>
        <p:nvSpPr>
          <p:cNvPr id="51" name="Text 37"/>
          <p:cNvSpPr/>
          <p:nvPr/>
        </p:nvSpPr>
        <p:spPr>
          <a:xfrm>
            <a:off x="6656832" y="4023360"/>
            <a:ext cx="198424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Project Documentation</a:t>
            </a:r>
            <a:endParaRPr lang="en-US" sz="1150" dirty="0"/>
          </a:p>
        </p:txBody>
      </p:sp>
      <p:sp>
        <p:nvSpPr>
          <p:cNvPr id="52" name="Text 38"/>
          <p:cNvSpPr/>
          <p:nvPr/>
        </p:nvSpPr>
        <p:spPr>
          <a:xfrm>
            <a:off x="548640" y="4919472"/>
            <a:ext cx="6858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E-commerce Sales Analytics Dashboard  |  Apex Planet Internship - Task 5</a:t>
            </a:r>
            <a:endParaRPr lang="en-US" sz="900" dirty="0"/>
          </a:p>
        </p:txBody>
      </p:sp>
      <p:sp>
        <p:nvSpPr>
          <p:cNvPr id="53" name="Text 39"/>
          <p:cNvSpPr/>
          <p:nvPr/>
        </p:nvSpPr>
        <p:spPr>
          <a:xfrm>
            <a:off x="8595360" y="4919472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AF2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3840480" cy="3840480"/>
          </a:xfrm>
          <a:prstGeom prst="ellipse">
            <a:avLst/>
          </a:prstGeom>
          <a:solidFill>
            <a:srgbClr val="DCE9FA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2926080"/>
            <a:ext cx="3291840" cy="3291840"/>
          </a:xfrm>
          <a:prstGeom prst="ellipse">
            <a:avLst/>
          </a:prstGeom>
          <a:solidFill>
            <a:srgbClr val="DCE9FA"/>
          </a:solidFill>
          <a:ln/>
        </p:spPr>
      </p:sp>
      <p:sp>
        <p:nvSpPr>
          <p:cNvPr id="4" name="Shape 2"/>
          <p:cNvSpPr/>
          <p:nvPr/>
        </p:nvSpPr>
        <p:spPr>
          <a:xfrm>
            <a:off x="4160520" y="1417320"/>
            <a:ext cx="822960" cy="822960"/>
          </a:xfrm>
          <a:prstGeom prst="ellipse">
            <a:avLst/>
          </a:prstGeom>
          <a:solidFill>
            <a:srgbClr val="DCE9FA"/>
          </a:solidFill>
          <a:ln w="12700">
            <a:solidFill>
              <a:srgbClr val="CADCFC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79976" y="1636776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7" name="Text 4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i="1" dirty="0">
                <a:solidFill>
                  <a:srgbClr val="5B6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 —  Hariom Kumar Dubey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59</TotalTime>
  <Words>632</Words>
  <Application>Microsoft Office PowerPoint</Application>
  <PresentationFormat>On-screen Show (16:9)</PresentationFormat>
  <Paragraphs>108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 Analytics Dashboard</dc:title>
  <dc:subject>PptxGenJS Presentation</dc:subject>
  <dc:creator>Hariom Dubey</dc:creator>
  <cp:lastModifiedBy>Hariom Kumar Dubey</cp:lastModifiedBy>
  <cp:revision>2</cp:revision>
  <dcterms:created xsi:type="dcterms:W3CDTF">2026-07-04T10:38:55Z</dcterms:created>
  <dcterms:modified xsi:type="dcterms:W3CDTF">2026-07-22T18:04:15Z</dcterms:modified>
</cp:coreProperties>
</file>